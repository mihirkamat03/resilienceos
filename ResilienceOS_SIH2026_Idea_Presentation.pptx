
<file path=[Content_Types].xml><?xml version="1.0" encoding="utf-8"?>
<ns0:Types xmlns:ns0="http://schemas.openxmlformats.org/package/2006/content-types">
  <ns0:Default Extension="png" ContentType="image/png"/>
  <ns0:Default Extension="jpeg" ContentType="image/jpe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theme/theme2.xml" ContentType="application/vnd.openxmlformats-officedocument.theme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ns3:sldGuideLst>
        <ns3:guide id="1" orient="horz" pos="2160" userDrawn="1">
          <ns3:clr>
            <a:srgbClr val="A4A3A4"/>
          </ns3:clr>
        </ns3:guide>
        <ns3:guide id="2" pos="3840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?>
<ns0:Relationships xmlns:ns0="http://schemas.openxmlformats.org/package/2006/relationships"><ns0:Relationship Id="rId13" Type="http://schemas.openxmlformats.org/officeDocument/2006/relationships/tableStyles" Target="tableStyles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12" Type="http://schemas.openxmlformats.org/officeDocument/2006/relationships/theme" Target="theme/theme1.xml" /><ns0:Relationship Id="rId2" Type="http://schemas.openxmlformats.org/officeDocument/2006/relationships/slide" Target="slides/slid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viewProps" Target="viewProps.xml" /><ns0:Relationship Id="rId5" Type="http://schemas.openxmlformats.org/officeDocument/2006/relationships/slide" Target="slides/slide4.xml" /><ns0:Relationship Id="rId10" Type="http://schemas.openxmlformats.org/officeDocument/2006/relationships/presProps" Target="presProps.xml" /><ns0:Relationship Id="rId4" Type="http://schemas.openxmlformats.org/officeDocument/2006/relationships/slide" Target="slides/slide3.xml" /><ns0:Relationship Id="rId9" Type="http://schemas.openxmlformats.org/officeDocument/2006/relationships/notesMaster" Target="notesMasters/notesMaster1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drawing/2017/decorative" xmlns:ns4="http://schemas.microsoft.com/office/powerpoint/2015/main" xmlns:ns6="http://schemas.microsoft.com/office/drawing/2010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ns2:creationId id="{3E443FD7-A66B-4AA0-872D-B088B9BC5F17}"/>
              </a:ext>
              <a:ext uri="{C183D7F6-B498-43B3-948B-1728B52AA6E4}">
                <ns3:decorative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ns4:designElem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ns2:creationId id="{C04BE0EF-3561-49B4-9A29-F283168A91C7}"/>
              </a:ext>
              <a:ext uri="{C183D7F6-B498-43B3-948B-1728B52AA6E4}">
                <ns3:decorative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ns4:designElem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ns2:creationId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Aft>
                <a:spcPct val="60000"/>
              </a:spcAft>
              <a:buNone/>
            </a:pPr>
            <a:r>
              <a:rPr lang="en-US" sz="1500" b="1">
                <a:solidFill>
                  <a:srgbClr val="0F172A"/>
                </a:solidFill>
                <a:latin typeface="Calibri"/>
              </a:rPr>
              <a:t>Problem Statement ID: </a:t>
            </a:r>
            <a:r>
              <a:rPr lang="en-US" sz="1500" b="0">
                <a:solidFill>
                  <a:srgbClr val="0F172A"/>
                </a:solidFill>
                <a:latin typeface="Calibri"/>
              </a:rPr>
              <a:t> 26105</a:t>
            </a:r>
          </a:p>
          <a:p>
            <a:pPr lvl="0" algn="l">
              <a:spcAft>
                <a:spcPct val="60000"/>
              </a:spcAft>
              <a:buNone/>
            </a:pPr>
            <a:r>
              <a:rPr lang="en-US" sz="1500" b="1">
                <a:solidFill>
                  <a:srgbClr val="0F172A"/>
                </a:solidFill>
                <a:latin typeface="Calibri"/>
              </a:rPr>
              <a:t>Problem Statement Title: </a:t>
            </a:r>
            <a:r>
              <a:rPr lang="en-US" sz="1500" b="0">
                <a:solidFill>
                  <a:srgbClr val="0F172A"/>
                </a:solidFill>
                <a:latin typeface="Calibri"/>
              </a:rPr>
              <a:t> AI-Powered Continuous Cyber Risk Quantification and Investment Optimization Platform</a:t>
            </a:r>
          </a:p>
          <a:p>
            <a:pPr lvl="0" algn="l">
              <a:spcAft>
                <a:spcPct val="60000"/>
              </a:spcAft>
              <a:buNone/>
            </a:pPr>
            <a:r>
              <a:rPr lang="en-US" sz="1500" b="1">
                <a:solidFill>
                  <a:srgbClr val="0F172A"/>
                </a:solidFill>
                <a:latin typeface="Calibri"/>
              </a:rPr>
              <a:t>Theme: </a:t>
            </a:r>
            <a:r>
              <a:rPr lang="en-US" sz="1500" b="0">
                <a:solidFill>
                  <a:srgbClr val="0F172A"/>
                </a:solidFill>
                <a:latin typeface="Calibri"/>
              </a:rPr>
              <a:t> Blockchain &amp; Cybersecurity</a:t>
            </a:r>
          </a:p>
          <a:p>
            <a:pPr lvl="0" algn="l">
              <a:spcAft>
                <a:spcPct val="60000"/>
              </a:spcAft>
              <a:buNone/>
            </a:pPr>
            <a:r>
              <a:rPr lang="en-US" sz="1500" b="1">
                <a:solidFill>
                  <a:srgbClr val="0F172A"/>
                </a:solidFill>
                <a:latin typeface="Calibri"/>
              </a:rPr>
              <a:t>PS Category: </a:t>
            </a:r>
            <a:r>
              <a:rPr lang="en-US" sz="1500" b="0">
                <a:solidFill>
                  <a:srgbClr val="0F172A"/>
                </a:solidFill>
                <a:latin typeface="Calibri"/>
              </a:rPr>
              <a:t> Software</a:t>
            </a:r>
          </a:p>
          <a:p>
            <a:pPr lvl="0" algn="l">
              <a:spcAft>
                <a:spcPct val="60000"/>
              </a:spcAft>
              <a:buNone/>
            </a:pPr>
            <a:r>
              <a:rPr lang="en-US" sz="1500" b="1">
                <a:solidFill>
                  <a:srgbClr val="0F172A"/>
                </a:solidFill>
                <a:latin typeface="Calibri"/>
              </a:rPr>
              <a:t>Team ID: </a:t>
            </a:r>
            <a:r>
              <a:rPr lang="en-US" sz="1500" b="0">
                <a:solidFill>
                  <a:srgbClr val="0F172A"/>
                </a:solidFill>
                <a:latin typeface="Calibri"/>
              </a:rPr>
              <a:t> [Team ID]</a:t>
            </a:r>
          </a:p>
          <a:p>
            <a:pPr lvl="0" algn="l">
              <a:spcAft>
                <a:spcPct val="60000"/>
              </a:spcAft>
              <a:buNone/>
            </a:pPr>
            <a:r>
              <a:rPr lang="en-US" sz="1500" b="1">
                <a:solidFill>
                  <a:srgbClr val="0F172A"/>
                </a:solidFill>
                <a:latin typeface="Calibri"/>
              </a:rPr>
              <a:t>Team Name: </a:t>
            </a:r>
            <a:r>
              <a:rPr lang="en-US" sz="1500" b="0">
                <a:solidFill>
                  <a:srgbClr val="0F172A"/>
                </a:solidFill>
                <a:latin typeface="Calibri"/>
              </a:rPr>
              <a:t> [Registered Team Name]</a:t>
            </a:r>
          </a:p>
          <a:p>
            <a:pPr lvl="0" algn="l">
              <a:spcAft>
                <a:spcPct val="60000"/>
              </a:spcAft>
              <a:buNone/>
            </a:pPr>
            <a:r>
              <a:rPr lang="en-US" sz="1600" b="1">
                <a:solidFill>
                  <a:srgbClr val="1E3A8A"/>
                </a:solidFill>
                <a:latin typeface="Calibri"/>
              </a:rPr>
              <a:t>Proposed Solution: </a:t>
            </a:r>
            <a:r>
              <a:rPr lang="en-US" sz="1600" b="1">
                <a:solidFill>
                  <a:srgbClr val="1E3A8A"/>
                </a:solidFill>
                <a:latin typeface="Calibri"/>
              </a:rPr>
              <a:t> ResilienceOS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6:useLocalDpi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ns6:hiddenFill>
                <a:solidFill>
                  <a:srgbClr val="FFFFFF"/>
                </a:solidFill>
              </ns6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drawing/2017/decorative" xmlns:ns5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TITLE: ResilienceOS — From Cyber Exposure to Business Decisions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TITLE: ResilienceOS — From Cyber Exposure to Business Decisions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09600" y="1500000"/>
            <a:ext cx="10972800" cy="4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l">
              <a:spcAft>
                <a:spcPct val="60000"/>
              </a:spcAft>
              <a:buNone/>
            </a:pPr>
            <a:r>
              <a:rPr lang="en-US" sz="1300" b="1">
                <a:solidFill>
                  <a:srgbClr val="1E3A8A"/>
                </a:solidFill>
                <a:latin typeface="Calibri"/>
              </a:rPr>
              <a:t>1. Proposed Solution &amp; Core Value Chain</a:t>
            </a:r>
          </a:p>
          <a:p>
            <a:pPr lvl="0" algn="l">
              <a:spcAft>
                <a:spcPct val="3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Core Mission: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A continuous cyber risk quantification and capital optimization platform that unifies security signals into business decisions.</a:t>
            </a:r>
          </a:p>
          <a:p>
            <a:pPr lvl="0" algn="l">
              <a:spcAft>
                <a:spcPct val="6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Continuous Pipeline: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Technical Telemetry → Business Context → Quantified Financial Exposure → 0/1 Knapsack Optimization → Verified Closed-Loop Remediation.</a:t>
            </a:r>
          </a:p>
          <a:p>
            <a:pPr lvl="0" algn="l">
              <a:spcAft>
                <a:spcPct val="60000"/>
              </a:spcAft>
              <a:buNone/>
            </a:pPr>
            <a:r>
              <a:rPr lang="en-US" sz="1300" b="1">
                <a:solidFill>
                  <a:srgbClr val="1E3A8A"/>
                </a:solidFill>
                <a:latin typeface="Calibri"/>
              </a:rPr>
              <a:t>2. Detailed 5-Stage Solution Architecture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1. Aggregate: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Ingest CVE findings, SIEM authentication logs, IAM identity drift, and CSPM cloud misconfigurations.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2. Contextualize: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Correlate findings with asset business tiers, data classifications, and network topological attack paths.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3. Quantify: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Calculate rupee Expected Annual Loss (EAL = LEF × LM) and 95% Value at Risk (VaR) using an Open FAIR-informed model.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4. Optimize: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Run counterfactual what-if simulations and solve 0/1 Knapsack DP with overlap penalties under budget constraints.</a:t>
            </a:r>
          </a:p>
          <a:p>
            <a:pPr lvl="0" algn="l">
              <a:spcAft>
                <a:spcPct val="6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5. Close the Loop: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Enforce closed-loop verification where risk only decreases upon sensor evidence, updating regulatory compliance live.</a:t>
            </a:r>
          </a:p>
          <a:p>
            <a:pPr lvl="0" algn="l">
              <a:spcAft>
                <a:spcPct val="60000"/>
              </a:spcAft>
              <a:buNone/>
            </a:pPr>
            <a:r>
              <a:rPr lang="en-US" sz="1300" b="1">
                <a:solidFill>
                  <a:srgbClr val="1E3A8A"/>
                </a:solidFill>
                <a:latin typeface="Calibri"/>
              </a:rPr>
              <a:t>3. How It Addresses the Problem &amp; Innovation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Key Transformation: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Replaces subjective 'Low/Med/High' heatmaps and static annual audits with continuous, mathematically grounded ₹ financial risk.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Innovation: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Deterministic unification of Open FAIR quantification, Dijkstra topological blast radius, Knapsack budget optimizer, and Grounded AI decision support.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ns2:creationId id="{5DBCE864-823D-4A13-9607-5DA1F0ED5FB8}"/>
              </a:ext>
              <a:ext uri="{C183D7F6-B498-43B3-948B-1728B52AA6E4}">
                <ns3:decorative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ResilienceOS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5:useLocalDpi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ns5:hiddenFill>
                <a:solidFill>
                  <a:srgbClr val="FFFFFF"/>
                </a:solidFill>
              </ns5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drawing/2017/decorative" xmlns:ns5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ns2:creationId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 &amp;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00000"/>
            <a:ext cx="10972800" cy="4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l">
              <a:spcAft>
                <a:spcPct val="60000"/>
              </a:spcAft>
              <a:buNone/>
            </a:pPr>
            <a:r>
              <a:rPr lang="en-US" sz="1300" b="1">
                <a:solidFill>
                  <a:srgbClr val="1E3A8A"/>
                </a:solidFill>
                <a:latin typeface="Calibri"/>
              </a:rPr>
              <a:t>1. Core Technologies &amp; Stack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Frontend &amp; UI: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React, JavaScript (JSX), Tailwind CSS, Recharts (Data Viz), Lucide Icons, Vite Build Pipeline.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Core Engines: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Centralized Reactive State Store (useRiskStore), Open FAIR-informed math engine, Dijkstra shortest-path solver, 0/1 Knapsack DP optimizer.</a:t>
            </a:r>
          </a:p>
          <a:p>
            <a:pPr lvl="0" algn="l">
              <a:spcAft>
                <a:spcPct val="5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AI Decision Support: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Deterministic intent classifier querying live computed state with citation chips and zero hallucination risk.</a:t>
            </a:r>
          </a:p>
          <a:p>
            <a:pPr lvl="0" algn="l">
              <a:spcAft>
                <a:spcPct val="60000"/>
              </a:spcAft>
              <a:buNone/>
            </a:pPr>
            <a:r>
              <a:rPr lang="en-US" sz="1300" b="1">
                <a:solidFill>
                  <a:srgbClr val="1E3A8A"/>
                </a:solidFill>
                <a:latin typeface="Calibri"/>
              </a:rPr>
              <a:t>2. Implementation Methodology &amp; 12-Step Data Flow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Ingestion &amp; Context: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Telemetry Signals (Simulated in prototype) → Normalize Findings → CMDB Asset Association → Topological Graph Mapping.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FAIR Quantification: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Threat Event Frequency × Vulnerability = LEF; 5-Factor Loss Magnitude (Outage + Breach + IR + Penalty + Reputation) = SLE → Expected Annual Loss (₹1.57 Cr) &amp; 95% VaR (₹2.75 Cr).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Optimization: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0/1 Knapsack Dynamic Programming with pairwise overlap penalty matrix evaluates controls under budget (₹30L budget → ₹29L utilized, ₹1.38 Cr risk reduced, +376% ROSI).</a:t>
            </a:r>
          </a:p>
          <a:p>
            <a:pPr lvl="0" algn="l">
              <a:spcAft>
                <a:spcPct val="5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Closed Loop: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Action Assigned → Deployed → Sensor Evidence Verified → Store Recalculates EAL Live → NIST / RBI / ISO / SEBI coverage updates.</a:t>
            </a:r>
          </a:p>
          <a:p>
            <a:pPr lvl="0" algn="l">
              <a:spcAft>
                <a:spcPct val="60000"/>
              </a:spcAft>
              <a:buNone/>
            </a:pPr>
            <a:r>
              <a:rPr lang="en-US" sz="1300" b="1">
                <a:solidFill>
                  <a:srgbClr val="1E3A8A"/>
                </a:solidFill>
                <a:latin typeface="Calibri"/>
              </a:rPr>
              <a:t>3. Prototype Validation Scope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Current Validation: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Validated on a multi-tier fintech enterprise (7 production assets, 6 active quantified risks, 7 controls) with instant live recalculation.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ns2:creationId id="{5DBCE864-823D-4A13-9607-5DA1F0ED5FB8}"/>
              </a:ext>
              <a:ext uri="{C183D7F6-B498-43B3-948B-1728B52AA6E4}">
                <ns3:decorative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ResilienceOS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5:useLocalDpi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ns5:hiddenFill>
                <a:solidFill>
                  <a:srgbClr val="FFFFFF"/>
                </a:solidFill>
              </ns5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drawing/2017/decorative" xmlns:ns5="http://schemas.microsoft.com/office/drawing/2010/main" xmlns:ns6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ns2:creationId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FEASIBILITY, CHALLENGES &amp;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00000"/>
            <a:ext cx="10972800" cy="4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l">
              <a:spcAft>
                <a:spcPct val="60000"/>
              </a:spcAft>
              <a:buNone/>
            </a:pPr>
            <a:r>
              <a:rPr lang="en-US" sz="1300" b="1">
                <a:solidFill>
                  <a:srgbClr val="1E3A8A"/>
                </a:solidFill>
                <a:latin typeface="Calibri"/>
              </a:rPr>
              <a:t>1. Prototype Feasibility vs. Production Scalability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Prototype Feasibility (Implemented):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Deterministic risk &amp; optimization algorithms run client-side with &lt; 2ms latency on synthetic enterprise datasets.</a:t>
            </a:r>
          </a:p>
          <a:p>
            <a:pPr lvl="0" algn="l">
              <a:spcAft>
                <a:spcPct val="5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Production Extension (Future):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Modular microservices using Apache Kafka event streaming, Neo4j distributed graph database, and REST webhook connectors.</a:t>
            </a:r>
          </a:p>
          <a:p>
            <a:pPr lvl="0" algn="l">
              <a:spcAft>
                <a:spcPct val="60000"/>
              </a:spcAft>
              <a:buNone/>
            </a:pPr>
            <a:r>
              <a:rPr lang="en-US" sz="1300" b="1">
                <a:solidFill>
                  <a:srgbClr val="1E3A8A"/>
                </a:solidFill>
                <a:latin typeface="Calibri"/>
              </a:rPr>
              <a:t>2. Technical Challenges &amp; Overcoming Strategies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1. Tool Integration Diversity: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Heterogeneous log formats across Qualys, Splunk, Okta, and AWS → Strategy: Normalized canonical telemetry schema with vendor adapters.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2. Financial Model Uncertainty: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Monetary loss estimates depend on business assumptions → Strategy: Industry-calibrated parameters (IBM Cost of Breach) with asset-level customization.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3. AI Trust &amp; Hallucination: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Generative AI models hallucinate figures → Strategy: Grounded intent routing querying live deterministic store state with citation chips.</a:t>
            </a:r>
          </a:p>
          <a:p>
            <a:pPr lvl="0" algn="l">
              <a:spcAft>
                <a:spcPct val="5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4. Compliance Evolution: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Regulatory frameworks (RBI, SEBI, NIST) update frequently → Strategy: Decoupled, versioned multi-framework control mapping engine.</a:t>
            </a:r>
          </a:p>
          <a:p>
            <a:pPr lvl="0" algn="l">
              <a:spcAft>
                <a:spcPct val="60000"/>
              </a:spcAft>
              <a:buNone/>
            </a:pPr>
            <a:r>
              <a:rPr lang="en-US" sz="1300" b="1">
                <a:solidFill>
                  <a:srgbClr val="1E3A8A"/>
                </a:solidFill>
                <a:latin typeface="Calibri"/>
              </a:rPr>
              <a:t>3. Commercial &amp; Deployment Viability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Enterprise Value: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Integrates into existing SOC/GRC toolchains without replacing infrastructure; optimizes capital budgets and lowers cyber insurance premiums.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ns2:creationId id="{5DBCE864-823D-4A13-9607-5DA1F0ED5FB8}"/>
              </a:ext>
              <a:ext uri="{C183D7F6-B498-43B3-948B-1728B52AA6E4}">
                <ns3:decorative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ResilienceOS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5:useLocalDpi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ns5:hiddenFill>
                <a:solidFill>
                  <a:srgbClr val="FFFFFF"/>
                </a:solidFill>
              </ns5:hiddenFill>
            </a:ext>
          </a:extLst>
        </p:spPr>
      </p:pic>
    </p:spTree>
    <p:extLst>
      <p:ext uri="{BB962C8B-B14F-4D97-AF65-F5344CB8AC3E}">
        <ns6:creationId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drawing/2017/decorative" xmlns:ns5="http://schemas.microsoft.com/office/drawing/2010/main" xmlns:ns6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ns2:creationId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IMPACT, BENEFITS &amp; VALUE CREATION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00000"/>
            <a:ext cx="10972800" cy="4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l">
              <a:spcAft>
                <a:spcPct val="60000"/>
              </a:spcAft>
              <a:buNone/>
            </a:pPr>
            <a:r>
              <a:rPr lang="en-US" sz="1300" b="1">
                <a:solidFill>
                  <a:srgbClr val="1E3A8A"/>
                </a:solidFill>
                <a:latin typeface="Calibri"/>
              </a:rPr>
              <a:t>1. Role-Based Stakeholder Impact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CISO: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Translates 10,000 scanner findings into monetary business exposure and presents a mathematically defensible business case for capital allocation.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CFO &amp; Board: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Gains actuarial visibility into Expected Annual Loss (₹1.57 Cr) and 95% VaR (₹2.75 Cr) to evaluate security spending and negotiate lower cyber insurance premiums.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SecOps &amp; Engineering: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Prioritizes incident response and patching based on attack path choke points and downstream blast radius rather than raw CVSS severity.</a:t>
            </a:r>
          </a:p>
          <a:p>
            <a:pPr lvl="0" algn="l">
              <a:spcAft>
                <a:spcPct val="5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Compliance &amp; Audit: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Replaces 3-month manual audit prep with continuous, automated control coverage mapping across NIST CSF 2.0, RBI, ISO 27001, and SEBI CSCRF.</a:t>
            </a:r>
          </a:p>
          <a:p>
            <a:pPr lvl="0" algn="l">
              <a:spcAft>
                <a:spcPct val="60000"/>
              </a:spcAft>
              <a:buNone/>
            </a:pPr>
            <a:r>
              <a:rPr lang="en-US" sz="1300" b="1">
                <a:solidFill>
                  <a:srgbClr val="1E3A8A"/>
                </a:solidFill>
                <a:latin typeface="Calibri"/>
              </a:rPr>
              <a:t>2. Measurable Economic &amp; Operational Benefits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Capital Efficiency: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Allocates security capital to maximum loss-reduction projects (+376% ROSI; ₹1.38 Cr risk reduced on ₹29L budget).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Resource Optimization: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Focuses scarce engineering hours on P1 critical choke points, eliminating 95% of harmless scanner alert fatigue.</a:t>
            </a:r>
          </a:p>
          <a:p>
            <a:pPr lvl="0" algn="l">
              <a:spcAft>
                <a:spcPct val="5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Risk Reduction: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Enforces continuous verification, cutting residual portfolio exposure by 70% (₹1.57 Cr → ₹47.2 Lakhs).</a:t>
            </a:r>
          </a:p>
          <a:p>
            <a:pPr lvl="0" algn="l">
              <a:spcAft>
                <a:spcPct val="60000"/>
              </a:spcAft>
              <a:buNone/>
            </a:pPr>
            <a:r>
              <a:rPr lang="en-US" sz="1300" b="1">
                <a:solidFill>
                  <a:srgbClr val="1E3A8A"/>
                </a:solidFill>
                <a:latin typeface="Calibri"/>
              </a:rPr>
              <a:t>3. Core Impact Chain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100" b="1">
                <a:solidFill>
                  <a:srgbClr val="0F172A"/>
                </a:solidFill>
                <a:latin typeface="Calibri"/>
              </a:rPr>
              <a:t>Transformation Flow: </a:t>
            </a:r>
            <a:r>
              <a:rPr lang="en-US" sz="1100" b="0">
                <a:solidFill>
                  <a:srgbClr val="0F172A"/>
                </a:solidFill>
                <a:latin typeface="Calibri"/>
              </a:rPr>
              <a:t>Continuous Telemetry Visibility → Business Prioritization → Optimal Budget Allocation → Verified Remediation → Lower Exposure &amp; Audit Readiness.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ns2:creationId id="{5DBCE864-823D-4A13-9607-5DA1F0ED5FB8}"/>
              </a:ext>
              <a:ext uri="{C183D7F6-B498-43B3-948B-1728B52AA6E4}">
                <ns3:decorative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ResilienceOS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5:useLocalDpi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ns5:hiddenFill>
                <a:solidFill>
                  <a:srgbClr val="FFFFFF"/>
                </a:solidFill>
              </ns5:hiddenFill>
            </a:ext>
          </a:extLst>
        </p:spPr>
      </p:pic>
    </p:spTree>
    <p:extLst>
      <p:ext uri="{BB962C8B-B14F-4D97-AF65-F5344CB8AC3E}">
        <ns6:creationId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drawing/2017/decorative" xmlns:ns5="http://schemas.microsoft.com/office/drawing/2010/main" xmlns:ns6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ns2:creationId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00000"/>
            <a:ext cx="10972800" cy="4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l">
              <a:spcAft>
                <a:spcPct val="60000"/>
              </a:spcAft>
              <a:buNone/>
            </a:pPr>
            <a:r>
              <a:rPr lang="en-US" sz="1300" b="1">
                <a:solidFill>
                  <a:srgbClr val="1E3A8A"/>
                </a:solidFill>
                <a:latin typeface="Calibri"/>
              </a:rPr>
              <a:t>1. Quantitative Risk &amp; Vulnerability Standards</a:t>
            </a:r>
          </a:p>
          <a:p>
            <a:pPr lvl="0" algn="l">
              <a:spcAft>
                <a:spcPct val="15000"/>
              </a:spcAft>
              <a:buFont typeface="Arial"/>
              <a:buChar char="•"/>
            </a:pPr>
            <a:r>
              <a:rPr lang="en-US" sz="1050" b="1">
                <a:solidFill>
                  <a:srgbClr val="0F172A"/>
                </a:solidFill>
                <a:latin typeface="Calibri"/>
              </a:rPr>
              <a:t>Open FAIR Standard: </a:t>
            </a:r>
            <a:r>
              <a:rPr lang="en-US" sz="1050" b="0">
                <a:solidFill>
                  <a:srgbClr val="0F172A"/>
                </a:solidFill>
                <a:latin typeface="Calibri"/>
              </a:rPr>
              <a:t>Standard for Information Security and Operational Risk Taxonomy (O-RT 1.0), Open Group.</a:t>
            </a:r>
          </a:p>
          <a:p>
            <a:pPr lvl="0" algn="l">
              <a:spcAft>
                <a:spcPct val="15000"/>
              </a:spcAft>
              <a:buFont typeface="Arial"/>
              <a:buChar char="•"/>
            </a:pPr>
            <a:r>
              <a:rPr lang="en-US" sz="1050" b="1">
                <a:solidFill>
                  <a:srgbClr val="0F172A"/>
                </a:solidFill>
                <a:latin typeface="Calibri"/>
              </a:rPr>
              <a:t>FIRST CVSS: </a:t>
            </a:r>
            <a:r>
              <a:rPr lang="en-US" sz="1050" b="0">
                <a:solidFill>
                  <a:srgbClr val="0F172A"/>
                </a:solidFill>
                <a:latin typeface="Calibri"/>
              </a:rPr>
              <a:t>Common Vulnerability Scoring System (CVSS v3.1 / v4.0 Specification), FIRST.org.</a:t>
            </a:r>
          </a:p>
          <a:p>
            <a:pPr lvl="0" algn="l">
              <a:spcAft>
                <a:spcPct val="40000"/>
              </a:spcAft>
              <a:buFont typeface="Arial"/>
              <a:buChar char="•"/>
            </a:pPr>
            <a:r>
              <a:rPr lang="en-US" sz="1050" b="1">
                <a:solidFill>
                  <a:srgbClr val="0F172A"/>
                </a:solidFill>
                <a:latin typeface="Calibri"/>
              </a:rPr>
              <a:t>FIRST EPSS: </a:t>
            </a:r>
            <a:r>
              <a:rPr lang="en-US" sz="1050" b="0">
                <a:solidFill>
                  <a:srgbClr val="0F172A"/>
                </a:solidFill>
                <a:latin typeface="Calibri"/>
              </a:rPr>
              <a:t>Exploit Prediction Scoring System: Forecasting Cyber Attacks in the Wild, FIRST.org / Cyentia Institute.</a:t>
            </a:r>
          </a:p>
          <a:p>
            <a:pPr lvl="0" algn="l">
              <a:spcAft>
                <a:spcPct val="60000"/>
              </a:spcAft>
              <a:buNone/>
            </a:pPr>
            <a:r>
              <a:rPr lang="en-US" sz="1300" b="1">
                <a:solidFill>
                  <a:srgbClr val="1E3A8A"/>
                </a:solidFill>
                <a:latin typeface="Calibri"/>
              </a:rPr>
              <a:t>2. Regulatory Frameworks &amp; Compliance Guidelines</a:t>
            </a:r>
          </a:p>
          <a:p>
            <a:pPr lvl="0" algn="l">
              <a:spcAft>
                <a:spcPct val="15000"/>
              </a:spcAft>
              <a:buFont typeface="Arial"/>
              <a:buChar char="•"/>
            </a:pPr>
            <a:r>
              <a:rPr lang="en-US" sz="1050" b="1">
                <a:solidFill>
                  <a:srgbClr val="0F172A"/>
                </a:solidFill>
                <a:latin typeface="Calibri"/>
              </a:rPr>
              <a:t>NIST CSF 2.0: </a:t>
            </a:r>
            <a:r>
              <a:rPr lang="en-US" sz="1050" b="0">
                <a:solidFill>
                  <a:srgbClr val="0F172A"/>
                </a:solidFill>
                <a:latin typeface="Calibri"/>
              </a:rPr>
              <a:t>The NIST Cybersecurity Framework 2.0, National Institute of Standards and Technology (2024).</a:t>
            </a:r>
          </a:p>
          <a:p>
            <a:pPr lvl="0" algn="l">
              <a:spcAft>
                <a:spcPct val="15000"/>
              </a:spcAft>
              <a:buFont typeface="Arial"/>
              <a:buChar char="•"/>
            </a:pPr>
            <a:r>
              <a:rPr lang="en-US" sz="1050" b="1">
                <a:solidFill>
                  <a:srgbClr val="0F172A"/>
                </a:solidFill>
                <a:latin typeface="Calibri"/>
              </a:rPr>
              <a:t>RBI Master Direction: </a:t>
            </a:r>
            <a:r>
              <a:rPr lang="en-US" sz="1050" b="0">
                <a:solidFill>
                  <a:srgbClr val="0F172A"/>
                </a:solidFill>
                <a:latin typeface="Calibri"/>
              </a:rPr>
              <a:t>Master Direction on Information Technology Governance, Risk, Controls and Cyber Resilience, Reserve Bank of India (2023).</a:t>
            </a:r>
          </a:p>
          <a:p>
            <a:pPr lvl="0" algn="l">
              <a:spcAft>
                <a:spcPct val="15000"/>
              </a:spcAft>
              <a:buFont typeface="Arial"/>
              <a:buChar char="•"/>
            </a:pPr>
            <a:r>
              <a:rPr lang="en-US" sz="1050" b="1">
                <a:solidFill>
                  <a:srgbClr val="0F172A"/>
                </a:solidFill>
                <a:latin typeface="Calibri"/>
              </a:rPr>
              <a:t>SEBI CSCRF: </a:t>
            </a:r>
            <a:r>
              <a:rPr lang="en-US" sz="1050" b="0">
                <a:solidFill>
                  <a:srgbClr val="0F172A"/>
                </a:solidFill>
                <a:latin typeface="Calibri"/>
              </a:rPr>
              <a:t>Cybersecurity and Cyber Resilience Framework (CSCRF) for Regulated Entities, SEBI (2024).</a:t>
            </a:r>
          </a:p>
          <a:p>
            <a:pPr lvl="0" algn="l">
              <a:spcAft>
                <a:spcPct val="15000"/>
              </a:spcAft>
              <a:buFont typeface="Arial"/>
              <a:buChar char="•"/>
            </a:pPr>
            <a:r>
              <a:rPr lang="en-US" sz="1050" b="1">
                <a:solidFill>
                  <a:srgbClr val="0F172A"/>
                </a:solidFill>
                <a:latin typeface="Calibri"/>
              </a:rPr>
              <a:t>ISO/IEC 27001:2022: </a:t>
            </a:r>
            <a:r>
              <a:rPr lang="en-US" sz="1050" b="0">
                <a:solidFill>
                  <a:srgbClr val="0F172A"/>
                </a:solidFill>
                <a:latin typeface="Calibri"/>
              </a:rPr>
              <a:t>Information security, cybersecurity and privacy protection — ISMS Requirements, ISO/IEC 27001:2022.</a:t>
            </a:r>
          </a:p>
          <a:p>
            <a:pPr lvl="0" algn="l">
              <a:spcAft>
                <a:spcPct val="40000"/>
              </a:spcAft>
              <a:buFont typeface="Arial"/>
              <a:buChar char="•"/>
            </a:pPr>
            <a:r>
              <a:rPr lang="en-US" sz="1050" b="1">
                <a:solidFill>
                  <a:srgbClr val="0F172A"/>
                </a:solidFill>
                <a:latin typeface="Calibri"/>
              </a:rPr>
              <a:t>DPDP Act 2023: </a:t>
            </a:r>
            <a:r>
              <a:rPr lang="en-US" sz="1050" b="0">
                <a:solidFill>
                  <a:srgbClr val="0F172A"/>
                </a:solidFill>
                <a:latin typeface="Calibri"/>
              </a:rPr>
              <a:t>Digital Personal Data Protection Act (2023), Ministry of Electronics and Information Technology, Govt. of India.</a:t>
            </a:r>
          </a:p>
          <a:p>
            <a:pPr lvl="0" algn="l">
              <a:spcAft>
                <a:spcPct val="60000"/>
              </a:spcAft>
              <a:buNone/>
            </a:pPr>
            <a:r>
              <a:rPr lang="en-US" sz="1300" b="1">
                <a:solidFill>
                  <a:srgbClr val="1E3A8A"/>
                </a:solidFill>
                <a:latin typeface="Calibri"/>
              </a:rPr>
              <a:t>3. Algorithmic Foundations &amp; Research Literature</a:t>
            </a:r>
          </a:p>
          <a:p>
            <a:pPr lvl="0" algn="l">
              <a:spcAft>
                <a:spcPct val="15000"/>
              </a:spcAft>
              <a:buFont typeface="Arial"/>
              <a:buChar char="•"/>
            </a:pPr>
            <a:r>
              <a:rPr lang="en-US" sz="1050" b="1">
                <a:solidFill>
                  <a:srgbClr val="0F172A"/>
                </a:solidFill>
                <a:latin typeface="Calibri"/>
              </a:rPr>
              <a:t>Dijkstra, E. W. (1959): </a:t>
            </a:r>
            <a:r>
              <a:rPr lang="en-US" sz="1050" b="0">
                <a:solidFill>
                  <a:srgbClr val="0F172A"/>
                </a:solidFill>
                <a:latin typeface="Calibri"/>
              </a:rPr>
              <a:t>A Note on Two Problems in Connexion with Graphs, Numerische Mathematik (Topological shortest-path reachability).</a:t>
            </a:r>
          </a:p>
          <a:p>
            <a:pPr lvl="0" algn="l">
              <a:spcAft>
                <a:spcPct val="15000"/>
              </a:spcAft>
              <a:buFont typeface="Arial"/>
              <a:buChar char="•"/>
            </a:pPr>
            <a:r>
              <a:rPr lang="en-US" sz="1050" b="1">
                <a:solidFill>
                  <a:srgbClr val="0F172A"/>
                </a:solidFill>
                <a:latin typeface="Calibri"/>
              </a:rPr>
              <a:t>Martello, S. &amp; Toth, P. (1990): </a:t>
            </a:r>
            <a:r>
              <a:rPr lang="en-US" sz="1050" b="0">
                <a:solidFill>
                  <a:srgbClr val="0F172A"/>
                </a:solidFill>
                <a:latin typeface="Calibri"/>
              </a:rPr>
              <a:t>Knapsack Problems: Algorithms and Computer Implementations, John Wiley &amp; Sons (0/1 Knapsack Dynamic Programming).</a:t>
            </a:r>
          </a:p>
          <a:p>
            <a:pPr lvl="0" algn="l">
              <a:spcAft>
                <a:spcPct val="20000"/>
              </a:spcAft>
              <a:buFont typeface="Arial"/>
              <a:buChar char="•"/>
            </a:pPr>
            <a:r>
              <a:rPr lang="en-US" sz="1050" b="1">
                <a:solidFill>
                  <a:srgbClr val="0F172A"/>
                </a:solidFill>
                <a:latin typeface="Calibri"/>
              </a:rPr>
              <a:t>IBM Security: </a:t>
            </a:r>
            <a:r>
              <a:rPr lang="en-US" sz="1050" b="0">
                <a:solidFill>
                  <a:srgbClr val="0F172A"/>
                </a:solidFill>
                <a:latin typeface="Calibri"/>
              </a:rPr>
              <a:t>Cost of a Data Breach Report (2024), IBM Security / Ponemon Institute (Calibrated financial impact parameters).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ns2:creationId id="{5DBCE864-823D-4A13-9607-5DA1F0ED5FB8}"/>
              </a:ext>
              <a:ext uri="{C183D7F6-B498-43B3-948B-1728B52AA6E4}">
                <ns3:decorative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ResilienceOS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5:useLocalDpi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ns5:hiddenFill>
                <a:solidFill>
                  <a:srgbClr val="FFFFFF"/>
                </a:solidFill>
              </ns5:hiddenFill>
            </a:ext>
          </a:extLst>
        </p:spPr>
      </p:pic>
    </p:spTree>
    <p:extLst>
      <p:ext uri="{BB962C8B-B14F-4D97-AF65-F5344CB8AC3E}">
        <ns6:creationId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